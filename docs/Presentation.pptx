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5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Aptos Display" panose="020B0004020202020204" pitchFamily="34" charset="0"/>
              </a:rPr>
              <a:t>Delivery Network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ED6F1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Database Practice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Aptos Display" panose="020B0004020202020204" pitchFamily="34" charset="0"/>
              </a:rPr>
              <a:t>Roman Kysliak  |  PI24E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ED6F1"/>
                </a:solidFill>
                <a:latin typeface="Calibri"/>
              </a:defRPr>
            </a:pPr>
            <a:r>
              <a:rPr dirty="0">
                <a:latin typeface="Aptos Display" panose="020B0004020202020204" pitchFamily="34" charset="0"/>
              </a:rPr>
              <a:t>Vilnius University of Applied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ED6F1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Faculty of Electronics and Informatics</a:t>
            </a:r>
          </a:p>
        </p:txBody>
      </p:sp>
      <p:pic>
        <p:nvPicPr>
          <p:cNvPr id="8" name="Picture 7" descr="VIKO Faculty of Electronics &amp; Informatics">
            <a:extLst>
              <a:ext uri="{FF2B5EF4-FFF2-40B4-BE49-F238E27FC236}">
                <a16:creationId xmlns:a16="http://schemas.microsoft.com/office/drawing/2014/main" id="{2E8CDD08-EF75-136C-806E-64C8D425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Background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Small-to-medium logistics operators lack affordable, integrated management software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Existing commercial solutions (Route4Me, Onfleet, Bringg) require monthly subscriptions and internet connectivity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Open-source alternatives (OpenGTS, Traccar) focus only on GPS tracking and lack order management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Current workflows rely on fragmented tools: spreadsheets for orders, paper logs for maintenance, phone for dispatching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Need for a self-contained, offline-capable desktop application with a robust database backend</a:t>
            </a:r>
          </a:p>
        </p:txBody>
      </p:sp>
      <p:pic>
        <p:nvPicPr>
          <p:cNvPr id="6" name="Picture 5" descr="VIKO Faculty of Electronics &amp; Informatics">
            <a:extLst>
              <a:ext uri="{FF2B5EF4-FFF2-40B4-BE49-F238E27FC236}">
                <a16:creationId xmlns:a16="http://schemas.microsoft.com/office/drawing/2014/main" id="{CBB5AEE1-A4E4-1CF0-E837-D6B374B8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Objective &amp;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Objective: Design and implement a functional delivery network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Key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731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Design a relational database with 18 entities in Third Normal Form (3NF)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39"/>
            <a:ext cx="731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3063239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Develop a cross-platform desktop binary using Go and Wails v2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31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Implement a custom mapping engine with node-edge network on HTML5 Canvas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731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Integrate Dijkstra shortest-path algorithm for route optimization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731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Build role-based access control with 5 user roles and granular permissions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73152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Add 16 MySQL triggers for comprehensive audit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Result: A fully functional application with complete CRUD, dispatch workflow, and audit trail</a:t>
            </a:r>
          </a:p>
        </p:txBody>
      </p:sp>
      <p:pic>
        <p:nvPicPr>
          <p:cNvPr id="19" name="Picture 18" descr="VIKO Faculty of Electronics &amp; Informatics">
            <a:extLst>
              <a:ext uri="{FF2B5EF4-FFF2-40B4-BE49-F238E27FC236}">
                <a16:creationId xmlns:a16="http://schemas.microsoft.com/office/drawing/2014/main" id="{B40B731F-E268-323A-570E-D59BE4BF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Database Design — 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18 Entities in 5 Functional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9728" cy="59436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▶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map_regions, nodes, edges, locations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109728" cy="59436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▶ Fleet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vehicle_types, vehicles, maintenance_logs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109728" cy="594360"/>
          </a:xfrm>
          <a:prstGeom prst="rect">
            <a:avLst/>
          </a:prstGeom>
          <a:solidFill>
            <a:srgbClr val="F9E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▶ Personnel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staff, customers, roles, permissions, role_permissions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9728" cy="594360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▶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orders, routes, route_segments, deliveries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29200"/>
            <a:ext cx="109728" cy="594360"/>
          </a:xfrm>
          <a:prstGeom prst="rect">
            <a:avLst/>
          </a:prstGeom>
          <a:solidFill>
            <a:srgbClr val="D7B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▶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users, system_audit_logs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920240"/>
            <a:ext cx="45720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All tables in Third Normal Form (3NF)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1NF: Atomic columns, unique PKs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2NF: No partial dependencies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3NF: No transitive dependencies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16 MySQL triggers for audit logging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• Referential integrity via foreign keys</a:t>
            </a:r>
          </a:p>
        </p:txBody>
      </p:sp>
      <p:pic>
        <p:nvPicPr>
          <p:cNvPr id="22" name="Picture 21" descr="VIKO Faculty of Electronics &amp; Informatics">
            <a:extLst>
              <a:ext uri="{FF2B5EF4-FFF2-40B4-BE49-F238E27FC236}">
                <a16:creationId xmlns:a16="http://schemas.microsoft.com/office/drawing/2014/main" id="{55D0A8F5-9E8F-F28F-CA17-69BB4B9ED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Implementation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MySQL 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InnoDB storage engine, 16 triggers, foreign key enforcement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3464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Go + Wails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12 source files, Dijkstra algorithm, bcrypt auth,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solidFill>
            <a:srgbClr val="F9E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148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TypeScript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8 modules, HTML5 Canvas map, role-adaptive UI, modals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19"/>
            <a:ext cx="10515600" cy="1097280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94959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Wails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39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Single native executable, cross-platform (Win/Mac/Linux)</a:t>
            </a:r>
          </a:p>
        </p:txBody>
      </p:sp>
      <p:pic>
        <p:nvPicPr>
          <p:cNvPr id="20" name="Picture 19" descr="VIKO Faculty of Electronics &amp; Informatics">
            <a:extLst>
              <a:ext uri="{FF2B5EF4-FFF2-40B4-BE49-F238E27FC236}">
                <a16:creationId xmlns:a16="http://schemas.microsoft.com/office/drawing/2014/main" id="{0CAEE9D0-9467-FDC7-30A9-C1346E80F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Application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[MAP] Infrastructure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Canvas-based node/edge network with zoom, pan, and CRUD via double-click/drag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3035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160020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[ORDER] Order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Full lifecycle: create, dispatch (Dijkstra), track, update delivery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53035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[FLEET] Fleet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Vehicle and vehicle type CRUD, status tracking, maintenance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108960"/>
            <a:ext cx="53035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324612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[USERS] User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5 roles, permission management, staff/customer profile linking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53035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[AUDIT] Audit Log 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Reverse-chronological timeline, auto-captured by 16 MySQL triggers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754880"/>
            <a:ext cx="53035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489204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[LOCK] 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03520"/>
            <a:ext cx="4754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Admin, Manager, Dispatcher, Driver, Customer — each with tailored UI</a:t>
            </a:r>
          </a:p>
        </p:txBody>
      </p:sp>
      <p:pic>
        <p:nvPicPr>
          <p:cNvPr id="22" name="Picture 21" descr="VIKO Faculty of Electronics &amp; Informatics">
            <a:extLst>
              <a:ext uri="{FF2B5EF4-FFF2-40B4-BE49-F238E27FC236}">
                <a16:creationId xmlns:a16="http://schemas.microsoft.com/office/drawing/2014/main" id="{598A14C3-A65C-CE3B-17B8-C030211AE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Technical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651760" cy="45720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Dijkstra Shortest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Priority-queue algorithm in route.go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Minimizes travel time = distance / speed_limit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Returns ordered edge segments for route visualization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651760" cy="45720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9040" y="14173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16 MySQL Triggers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011680"/>
            <a:ext cx="22860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Auto-populate system_audit_logs on INSERT/UPDATE/DELETE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Covers orders, users, vehicles, nodes, edges, deliveries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Human-readable change descriptions with timestamps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651760" cy="457200"/>
          </a:xfrm>
          <a:prstGeom prst="rect">
            <a:avLst/>
          </a:prstGeom>
          <a:solidFill>
            <a:srgbClr val="F9E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Role-Based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22860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5 distinct roles with granular permissions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Dual enforcement: backend API checks + frontend UI adaptation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Admin bypass: hardcoded permission override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651760" cy="457200"/>
          </a:xfrm>
          <a:prstGeom prst="rect">
            <a:avLst/>
          </a:prstGeom>
          <a:solidFill>
            <a:srgbClr val="F5B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18320" y="14173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BCrypt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2286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Passwords hashed with cost factor 10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Go golang.org/x/crypto/bcrypt library</a:t>
            </a:r>
            <a:br>
              <a:rPr>
                <a:latin typeface="Aptos Display" panose="020B0004020202020204" pitchFamily="34" charset="0"/>
              </a:rPr>
            </a:br>
            <a:r>
              <a:rPr>
                <a:latin typeface="Aptos Display" panose="020B0004020202020204" pitchFamily="34" charset="0"/>
              </a:rPr>
              <a:t>Protects credentials even if database is compromised</a:t>
            </a:r>
          </a:p>
        </p:txBody>
      </p:sp>
      <p:pic>
        <p:nvPicPr>
          <p:cNvPr id="16" name="Picture 15" descr="VIKO Faculty of Electronics &amp; Informatics">
            <a:extLst>
              <a:ext uri="{FF2B5EF4-FFF2-40B4-BE49-F238E27FC236}">
                <a16:creationId xmlns:a16="http://schemas.microsoft.com/office/drawing/2014/main" id="{81BE5797-963D-57E3-93E5-B611F095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Queries &amp; Database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30 SQL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4864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3 basic queries — order status, vehicle availability, driver deliveries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54864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5 SUBSTRING/date queries — email domains, order years, date arithmetic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54864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6 two-table JOINs — orders+customers, vehicles+types, staff+users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54864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6 multi-table JOINs — routes+drivers+vehicles, orders+customers+nodes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54864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10 complex queries — subqueries, EXISTS, window functions (RANK)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4864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16 triggers — auto-audit on all CRUD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4864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All queries executable from docs/db_schema/queries.sql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371600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Database Population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920240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0" y="19202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18 tables, ~2,075 total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377440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0" y="23774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Section A: 10 direct INSERTs per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34640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0" y="28346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Section B: 10 INSERT...SELECT data transfers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291840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0" y="32918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Section C: 100+ AI-generated records per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749039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39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AI prompts documented in ai_prompts.md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206240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0" y="42062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4 data entry methods: Visual, SQL, Transfer, 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663440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46634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Export via mysqldump (Appendix 3)</a:t>
            </a:r>
          </a:p>
        </p:txBody>
      </p:sp>
      <p:pic>
        <p:nvPicPr>
          <p:cNvPr id="34" name="Picture 33" descr="VIKO Faculty of Electronics &amp; Informatics">
            <a:extLst>
              <a:ext uri="{FF2B5EF4-FFF2-40B4-BE49-F238E27FC236}">
                <a16:creationId xmlns:a16="http://schemas.microsoft.com/office/drawing/2014/main" id="{65F1CC21-62D2-0513-A83B-F33BF3ACA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73152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Fully functional 18-entity database normalized to 3NF with referential integrity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73152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Cross-platform desktop application with complete CRUD and dispatch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73152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Dijkstra route optimization correctly computes fastest paths between any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73152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16 MySQL triggers provide tamper-resistant audit trail for all data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73152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Role-based access control with 5 roles and granular permissions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73152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Interactive canvas-based infrastructure map with zoom/pan and CRUD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70764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Calibri"/>
              </a:defRPr>
            </a:pPr>
            <a:r>
              <a:rPr dirty="0">
                <a:latin typeface="Aptos Display" panose="020B0004020202020204" pitchFamily="34" charset="0"/>
              </a:rPr>
              <a:t>Recommendations for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27964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1. WebSocket real-time updates for multi-user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93724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2. CSV/Excel batch import for orders and maintenance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59484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3. Mobile-responsive web view for drivers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25244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4C3C"/>
                </a:solidFill>
                <a:latin typeface="Calibri"/>
              </a:defRPr>
            </a:pPr>
            <a:r>
              <a:rPr>
                <a:latin typeface="Aptos Display" panose="020B0004020202020204" pitchFamily="34" charset="0"/>
              </a:rPr>
              <a:t>4. Graphical reporting dashboard with charts</a:t>
            </a:r>
          </a:p>
        </p:txBody>
      </p:sp>
      <p:pic>
        <p:nvPicPr>
          <p:cNvPr id="22" name="Picture 21" descr="VIKO Faculty of Electronics &amp; Informatics">
            <a:extLst>
              <a:ext uri="{FF2B5EF4-FFF2-40B4-BE49-F238E27FC236}">
                <a16:creationId xmlns:a16="http://schemas.microsoft.com/office/drawing/2014/main" id="{2ECCE76E-E159-25FE-786E-2500F666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5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5466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96116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ED6F1"/>
                </a:solidFill>
                <a:latin typeface="Calibri"/>
              </a:defRPr>
            </a:pPr>
            <a:r>
              <a:rPr dirty="0"/>
              <a:t>Questions?</a:t>
            </a:r>
          </a:p>
        </p:txBody>
      </p:sp>
      <p:pic>
        <p:nvPicPr>
          <p:cNvPr id="7" name="Picture 6" descr="VIKO Faculty of Electronics &amp; Informatics">
            <a:extLst>
              <a:ext uri="{FF2B5EF4-FFF2-40B4-BE49-F238E27FC236}">
                <a16:creationId xmlns:a16="http://schemas.microsoft.com/office/drawing/2014/main" id="{931916FF-D1D4-6279-1D0C-1FF497464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37" y="6083433"/>
            <a:ext cx="2752725" cy="695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862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Roman Kysliak</cp:lastModifiedBy>
  <cp:revision>2</cp:revision>
  <dcterms:created xsi:type="dcterms:W3CDTF">2013-01-27T09:14:16Z</dcterms:created>
  <dcterms:modified xsi:type="dcterms:W3CDTF">2026-05-19T21:30:10Z</dcterms:modified>
  <cp:category/>
</cp:coreProperties>
</file>